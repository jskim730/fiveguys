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68580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A817"/>
                </a:solidFill>
                <a:latin typeface="Calibri"/>
              </a:rPr>
              <a:t>COSE471  ·  DATA SCIENCE  ·  KOREA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Trebuchet MS"/>
              </a:rPr>
              <a:t>Surface Style is Coachable.</a:t>
            </a:r>
          </a:p>
          <a:p>
            <a:pPr algn="l"/>
            <a:r>
              <a:rPr sz="5000" b="1" i="0">
                <a:solidFill>
                  <a:srgbClr val="CADCFC"/>
                </a:solidFill>
                <a:latin typeface="Trebuchet MS"/>
              </a:rPr>
              <a:t>The Signature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CADCFC"/>
                </a:solidFill>
                <a:latin typeface="Calibri"/>
              </a:rPr>
              <a:t>Can an LLM imitate a student's writing style once the content is held fixed?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Team [nickname]   ·   Members A · B · C ·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“Looks human” ≠ “is human”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5943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E293B"/>
                </a:solidFill>
                <a:latin typeface="Calibri"/>
              </a:rPr>
              <a:t>AI-text detectors usually confuse two different things: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B7837"/>
                </a:solidFill>
                <a:latin typeface="Calibri"/>
              </a:rPr>
              <a:t>WHAT </a:t>
            </a:r>
            <a:r>
              <a:rPr sz="1800" b="0" i="0">
                <a:solidFill>
                  <a:srgbClr val="1E293B"/>
                </a:solidFill>
                <a:latin typeface="Calibri"/>
              </a:rPr>
              <a:t>is said (content)  vs. 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HOW </a:t>
            </a:r>
            <a:r>
              <a:rPr sz="1800" b="0" i="0">
                <a:solidFill>
                  <a:srgbClr val="1E293B"/>
                </a:solidFill>
                <a:latin typeface="Calibri"/>
              </a:rPr>
              <a:t>it is said (style).</a:t>
            </a:r>
          </a:p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We hold </a:t>
            </a:r>
            <a:r>
              <a:rPr sz="1800" b="1" i="0">
                <a:solidFill>
                  <a:srgbClr val="1B7837"/>
                </a:solidFill>
                <a:latin typeface="Calibri"/>
              </a:rPr>
              <a:t>content fixed</a:t>
            </a:r>
            <a:r>
              <a:rPr sz="1800" b="0" i="0">
                <a:solidFill>
                  <a:srgbClr val="1E293B"/>
                </a:solidFill>
                <a:latin typeface="Calibri"/>
              </a:rPr>
              <a:t> and coach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only the style</a:t>
            </a:r>
            <a:r>
              <a:rPr sz="1800" b="0" i="0">
                <a:solidFill>
                  <a:srgbClr val="1E293B"/>
                </a:solidFill>
                <a:latin typeface="Calibri"/>
              </a:rPr>
              <a:t> — then ask which part of “human” an LLM cannot fake.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691640"/>
            <a:ext cx="4663440" cy="16916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0" y="1691640"/>
            <a:ext cx="109728" cy="169164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1874519"/>
            <a:ext cx="42062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7837"/>
                </a:solidFill>
                <a:latin typeface="Trebuchet MS"/>
              </a:rPr>
              <a:t>CONTENT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Held FIXED — each LLM answer must cover that student's keywords.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657600"/>
            <a:ext cx="4663440" cy="16916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3657600"/>
            <a:ext cx="109728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3840480"/>
            <a:ext cx="42062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Trebuchet MS"/>
              </a:rPr>
              <a:t>STYLE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The ONLY variable — coached harder each round (R0 → R2).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Real in-class discussion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Written by our own class — mixed languages, uneven length, genuine messiness.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2139696" cy="11430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4213D"/>
                </a:solidFill>
                <a:latin typeface="Trebuchet M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1956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8064" y="1600200"/>
            <a:ext cx="2139696" cy="11430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98064" y="173736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4213D"/>
                </a:solidFill>
                <a:latin typeface="Trebuchet MS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2331720"/>
            <a:ext cx="1956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00200"/>
            <a:ext cx="2139696" cy="11430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4213D"/>
                </a:solidFill>
                <a:latin typeface="Trebuchet MS"/>
              </a:rPr>
              <a:t>542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31720"/>
            <a:ext cx="1956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600200"/>
            <a:ext cx="2139696" cy="11430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173736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4213D"/>
                </a:solidFill>
                <a:latin typeface="Trebuchet MS"/>
              </a:rPr>
              <a:t>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2331720"/>
            <a:ext cx="1956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students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1472" y="1600200"/>
            <a:ext cx="2139696" cy="11430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91472" y="173736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4213D"/>
                </a:solidFill>
                <a:latin typeface="Trebuchet MS"/>
              </a:rPr>
              <a:t>421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1" y="2331720"/>
            <a:ext cx="1956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English-original
(analysis set)</a:t>
            </a:r>
          </a:p>
        </p:txBody>
      </p:sp>
      <p:pic>
        <p:nvPicPr>
          <p:cNvPr id="19" name="Picture 18" descr="fig6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78890"/>
            <a:ext cx="11064240" cy="32776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Data understanding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Fix the content, coach only the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7837"/>
                </a:solidFill>
                <a:latin typeface="Trebuchet MS"/>
              </a:rPr>
              <a:t>keywords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content fixed,
all rounds</a:t>
            </a:r>
          </a:p>
        </p:txBody>
      </p:sp>
      <p:sp>
        <p:nvSpPr>
          <p:cNvPr id="4" name="Chevron 3"/>
          <p:cNvSpPr/>
          <p:nvPr/>
        </p:nvSpPr>
        <p:spPr>
          <a:xfrm>
            <a:off x="2743200" y="1600200"/>
            <a:ext cx="2286000" cy="868680"/>
          </a:xfrm>
          <a:prstGeom prst="chevron">
            <a:avLst/>
          </a:prstGeom>
          <a:solidFill>
            <a:srgbClr val="F2C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E293B"/>
                </a:solidFill>
                <a:latin typeface="Trebuchet MS"/>
              </a:rPr>
              <a:t>R0  </a:t>
            </a:r>
            <a:r>
              <a:rPr sz="1300">
                <a:solidFill>
                  <a:srgbClr val="1E293B"/>
                </a:solidFill>
                <a:latin typeface="Calibri"/>
              </a:rPr>
              <a:t>naive</a:t>
            </a:r>
          </a:p>
        </p:txBody>
      </p:sp>
      <p:sp>
        <p:nvSpPr>
          <p:cNvPr id="5" name="Chevron 4"/>
          <p:cNvSpPr/>
          <p:nvPr/>
        </p:nvSpPr>
        <p:spPr>
          <a:xfrm>
            <a:off x="4800600" y="1600200"/>
            <a:ext cx="2286000" cy="868680"/>
          </a:xfrm>
          <a:prstGeom prst="chevron">
            <a:avLst/>
          </a:prstGeom>
          <a:solidFill>
            <a:srgbClr val="E08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E293B"/>
                </a:solidFill>
                <a:latin typeface="Trebuchet MS"/>
              </a:rPr>
              <a:t>R1  </a:t>
            </a:r>
            <a:r>
              <a:rPr sz="1300">
                <a:solidFill>
                  <a:srgbClr val="1E293B"/>
                </a:solidFill>
                <a:latin typeface="Calibri"/>
              </a:rPr>
              <a:t>light</a:t>
            </a:r>
          </a:p>
        </p:txBody>
      </p:sp>
      <p:sp>
        <p:nvSpPr>
          <p:cNvPr id="6" name="Chevron 5"/>
          <p:cNvSpPr/>
          <p:nvPr/>
        </p:nvSpPr>
        <p:spPr>
          <a:xfrm>
            <a:off x="6858000" y="1600200"/>
            <a:ext cx="2286000" cy="868680"/>
          </a:xfrm>
          <a:prstGeom prst="chevron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R2  </a:t>
            </a:r>
            <a:r>
              <a:rPr sz="1300">
                <a:solidFill>
                  <a:srgbClr val="FFFFFF"/>
                </a:solidFill>
                <a:latin typeface="Calibri"/>
              </a:rPr>
              <a:t>aggressive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420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style coaching only — persona, temperature fixed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83280"/>
            <a:ext cx="5486400" cy="13716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383280"/>
            <a:ext cx="109728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5029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C0392B"/>
                </a:solidFill>
                <a:latin typeface="Trebuchet MS"/>
              </a:rPr>
              <a:t>STYLE7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 —  targeted detector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7 surface features the prompt explicitly coaches (length, 1st-person, hedging…).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383280"/>
            <a:ext cx="5303520" cy="13716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383280"/>
            <a:ext cx="109728" cy="13716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3520440"/>
            <a:ext cx="4846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7837"/>
                </a:solidFill>
                <a:latin typeface="Trebuchet MS"/>
              </a:rPr>
              <a:t>STYLO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 —  independent judge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function words + char n-grams + punctuation. Never targeted. Disjoint from STYLE7.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83480"/>
            <a:ext cx="11064240" cy="105156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983480"/>
            <a:ext cx="82296" cy="1051560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11496"/>
            <a:ext cx="10607040" cy="7955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Two course techniques:  </a:t>
            </a:r>
            <a:r>
              <a:rPr sz="1500" b="1" i="0">
                <a:solidFill>
                  <a:srgbClr val="14213D"/>
                </a:solidFill>
                <a:latin typeface="Calibri"/>
              </a:rPr>
              <a:t>① Classification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(per-question, leakage-proof AUC)   +   </a:t>
            </a:r>
            <a:r>
              <a:rPr sz="1500" b="1" i="0">
                <a:solidFill>
                  <a:srgbClr val="14213D"/>
                </a:solidFill>
                <a:latin typeface="Calibri"/>
              </a:rPr>
              <a:t>② Outlier Detection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(LOF).   Generator GPT-5-mini ≠ judge.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Methodology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Style encodes topic — so we never pool</a:t>
            </a:r>
          </a:p>
        </p:txBody>
      </p:sp>
      <p:pic>
        <p:nvPicPr>
          <p:cNvPr id="3" name="Picture 2" descr="fig5_topic_conf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88392"/>
            <a:ext cx="5669280" cy="390417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66560" y="2377440"/>
            <a:ext cx="4846320" cy="23774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2377440"/>
            <a:ext cx="82296" cy="2377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22592" y="2505456"/>
            <a:ext cx="4389120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Using humans only, style predicts WHICH question a response answers: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STYLE7 AUC 0.82   ·   STYLO AUC 0.96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Features carry topic, not just authorship → we evaluate strictly per question (no topic leakage).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Methodology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The LLM “tell” — and the overshoot</a:t>
            </a:r>
          </a:p>
        </p:txBody>
      </p:sp>
      <p:pic>
        <p:nvPicPr>
          <p:cNvPr id="3" name="Picture 2" descr="fig2_style7_feature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2942"/>
            <a:ext cx="7406640" cy="34750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21040" y="1554480"/>
            <a:ext cx="3383280" cy="13716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1554480"/>
            <a:ext cx="82296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7072" y="1682495"/>
            <a:ext cx="292608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Trebuchet MS"/>
              </a:rPr>
              <a:t>Naive R0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</a:rPr>
              <a:t>~6× longer, polished, ~zero hedging, impersonal.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063240"/>
            <a:ext cx="3383280" cy="13716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3063240"/>
            <a:ext cx="82296" cy="13716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3191256"/>
            <a:ext cx="292608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7837"/>
                </a:solidFill>
                <a:latin typeface="Trebuchet MS"/>
              </a:rPr>
              <a:t>Coached R2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</a:rPr>
              <a:t>Overshoots humans on every feature (crosses the dashed line).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572000"/>
            <a:ext cx="3383280" cy="150876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4572000"/>
            <a:ext cx="82296" cy="1508760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4700016"/>
            <a:ext cx="2926080" cy="1252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4213D"/>
                </a:solidFill>
                <a:latin typeface="Trebuchet MS"/>
              </a:rPr>
              <a:t>Surprise (data-driven)</a:t>
            </a:r>
          </a:p>
          <a:p>
            <a:pPr algn="l"/>
            <a:r>
              <a:rPr sz="1350" b="0" i="0">
                <a:solidFill>
                  <a:srgbClr val="1E293B"/>
                </a:solidFill>
                <a:latin typeface="Calibri"/>
              </a:rPr>
              <a:t>Humans hedge MORE than naive GPT — our plan's assumption was backwards.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Surface breaks, signature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Frozen R0 classifier scored on held-out humans, per question.</a:t>
            </a:r>
          </a:p>
        </p:txBody>
      </p:sp>
      <p:pic>
        <p:nvPicPr>
          <p:cNvPr id="4" name="Picture 3" descr="fig1_auc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6785"/>
            <a:ext cx="6766560" cy="46788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828800"/>
            <a:ext cx="4023360" cy="178308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828800"/>
            <a:ext cx="109728" cy="1783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6576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Trebuchet MS"/>
              </a:rPr>
              <a:t>STYLE7 @ R2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C0392B"/>
                </a:solidFill>
                <a:latin typeface="Trebuchet MS"/>
              </a:rPr>
              <a:t>0.08</a:t>
            </a:r>
          </a:p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surface coached away — inverted past humans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794760"/>
            <a:ext cx="4023360" cy="178308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3794760"/>
            <a:ext cx="109728" cy="178308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886200"/>
            <a:ext cx="36576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7837"/>
                </a:solidFill>
                <a:latin typeface="Trebuchet MS"/>
              </a:rPr>
              <a:t>STYLO @ R2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B7837"/>
                </a:solidFill>
                <a:latin typeface="Trebuchet MS"/>
              </a:rPr>
              <a:t>0.78</a:t>
            </a:r>
          </a:p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independent judge still detects the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7150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1">
                <a:solidFill>
                  <a:srgbClr val="14213D"/>
                </a:solidFill>
                <a:latin typeface="Calibri"/>
              </a:rPr>
              <a:t>Same answers — opposite verdicts.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Results — 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Two methods, one verdict</a:t>
            </a:r>
          </a:p>
        </p:txBody>
      </p:sp>
      <p:pic>
        <p:nvPicPr>
          <p:cNvPr id="3" name="Picture 2" descr="fig3_two_technique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8281"/>
            <a:ext cx="5486400" cy="3478556"/>
          </a:xfrm>
          <a:prstGeom prst="rect">
            <a:avLst/>
          </a:prstGeom>
        </p:spPr>
      </p:pic>
      <p:pic>
        <p:nvPicPr>
          <p:cNvPr id="4" name="Picture 3" descr="fig4_stylo_pca_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042" y="1508760"/>
            <a:ext cx="4841595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5440680"/>
            <a:ext cx="11064240" cy="82296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440680"/>
            <a:ext cx="82296" cy="82296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68696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Classifier (STYLO AUC 0.78) and Outlier-LOF (59% of humans still outside the LLM cloud) — distance-based, not a re-run — agree the signature survives imitation.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Results — two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Trebuchet MS"/>
              </a:rPr>
              <a:t>Not an artifact</a:t>
            </a:r>
          </a:p>
        </p:txBody>
      </p:sp>
      <p:pic>
        <p:nvPicPr>
          <p:cNvPr id="3" name="Picture 2" descr="fig8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5582"/>
            <a:ext cx="5852160" cy="372979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49440" y="2103120"/>
            <a:ext cx="4663440" cy="32004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0" y="2103120"/>
            <a:ext cx="82296" cy="3200400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5472" y="2231136"/>
            <a:ext cx="4206240" cy="2944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The pattern holds across 4 data definitions: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English-only (0.78) ≈ translation-included (0.76)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→ not a machine-translation artifact.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At R2 human (41w) ≈ LLM (38w)</a:t>
            </a:r>
          </a:p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→ the residual 0.78 is not a length artifact.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COSE471 Term Project   ·   Results —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68580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rebuchet MS"/>
              </a:rPr>
              <a:t>The signature is the human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CADCFC"/>
                </a:solidFill>
                <a:latin typeface="Calibri"/>
              </a:rPr>
              <a:t>When content is fixed, prompt-level coaching erases the LLM's </a:t>
            </a:r>
            <a:r>
              <a:rPr sz="2100" b="1" i="0">
                <a:solidFill>
                  <a:srgbClr val="C0392B"/>
                </a:solidFill>
                <a:latin typeface="Calibri"/>
              </a:rPr>
              <a:t>surface tells</a:t>
            </a:r>
            <a:r>
              <a:rPr sz="2100" b="0" i="0">
                <a:solidFill>
                  <a:srgbClr val="CADCFC"/>
                </a:solidFill>
                <a:latin typeface="Calibri"/>
              </a:rPr>
              <a:t> — but cannot erase its </a:t>
            </a:r>
            <a:r>
              <a:rPr sz="2100" b="1" i="0">
                <a:solidFill>
                  <a:srgbClr val="1B7837"/>
                </a:solidFill>
                <a:latin typeface="Calibri"/>
              </a:rPr>
              <a:t>stylometric signature</a:t>
            </a:r>
            <a:r>
              <a:rPr sz="2100" b="0" i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20440"/>
            <a:ext cx="3291840" cy="1691640"/>
          </a:xfrm>
          <a:prstGeom prst="roundRect">
            <a:avLst/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0392B"/>
                </a:solidFill>
                <a:latin typeface="Trebuchet MS"/>
              </a:rPr>
              <a:t>0.08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177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STYLE7 @ R2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520440"/>
            <a:ext cx="3291840" cy="1691640"/>
          </a:xfrm>
          <a:prstGeom prst="roundRect">
            <a:avLst/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37033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B7837"/>
                </a:solidFill>
                <a:latin typeface="Trebuchet MS"/>
              </a:rPr>
              <a:t>0.78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6177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STYLO @ R2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520440"/>
            <a:ext cx="3291840" cy="1691640"/>
          </a:xfrm>
          <a:prstGeom prst="roundRect">
            <a:avLst/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7033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E6A817"/>
                </a:solidFill>
                <a:latin typeface="Trebuchet MS"/>
              </a:rPr>
              <a:t>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46177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humans outside
LLM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978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Limitations: STYLO also drops (partial, not immune)  ·  R2 is a caricature (overshoot)  ·  ESL-vs-native register → future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CADCF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Reproducible: config.yaml  →  generate → classify → round_eval → outlier_lof →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Team [nickname]  ·  Members A · B · C ·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